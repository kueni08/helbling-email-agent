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60368" autoAdjust="0"/>
  </p:normalViewPr>
  <p:slideViewPr>
    <p:cSldViewPr>
      <p:cViewPr varScale="1">
        <p:scale>
          <a:sx n="50" d="100"/>
          <a:sy n="50" d="100"/>
        </p:scale>
        <p:origin x="219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762810-C376-4EA8-98B7-F5C250588FD1}" type="datetimeFigureOut">
              <a:rPr lang="de-CH" smtClean="0"/>
              <a:t>12.03.2026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30C490-7C8D-44E9-9607-F3F0F83B391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66934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>
                <a:effectLst/>
              </a:rPr>
              <a:t>Best Practice für die Unterteilung</a:t>
            </a:r>
          </a:p>
          <a:p>
            <a:r>
              <a:rPr lang="de-DE" dirty="0">
                <a:effectLst/>
              </a:rPr>
              <a:t>Die bewährte Vorgehensweise besteht darin, Zylinder nicht einzeln an Personen zu vergeben, sondern sie in funktionalen Gruppen (Zugangsrechten) zu bündeln und diese dann über Rollen zuzuweisen.</a:t>
            </a:r>
          </a:p>
          <a:p>
            <a:r>
              <a:rPr lang="de-DE" dirty="0">
                <a:effectLst/>
              </a:rPr>
              <a:t>1. Welche Zylinder fasst man in ein „Zugangsrecht“ zusammen?</a:t>
            </a:r>
          </a:p>
          <a:p>
            <a:r>
              <a:rPr lang="de-DE" dirty="0">
                <a:effectLst/>
              </a:rPr>
              <a:t>Ein Zugangsrecht sollte Zylinder gruppieren, die eine </a:t>
            </a:r>
            <a:r>
              <a:rPr lang="de-DE" b="1" dirty="0">
                <a:effectLst/>
              </a:rPr>
              <a:t>logische Einheit</a:t>
            </a:r>
            <a:r>
              <a:rPr lang="de-DE" dirty="0">
                <a:effectLst/>
              </a:rPr>
              <a:t> bilden und üblicherweise von derselben Benutzergruppe benötigt werden.</a:t>
            </a:r>
          </a:p>
          <a:p>
            <a:r>
              <a:rPr lang="de-DE" b="1" dirty="0">
                <a:effectLst/>
              </a:rPr>
              <a:t>Allgemeine Zugänge:</a:t>
            </a:r>
            <a:r>
              <a:rPr lang="de-DE" dirty="0">
                <a:effectLst/>
              </a:rPr>
              <a:t> Zylinder, die jeder im Gebäude öffnen darf (Haupteingang, Müllraum, Fahrradkeller).</a:t>
            </a:r>
          </a:p>
          <a:p>
            <a:r>
              <a:rPr lang="de-DE" b="1" dirty="0">
                <a:effectLst/>
              </a:rPr>
              <a:t>Funktionsbereiche:</a:t>
            </a:r>
            <a:r>
              <a:rPr lang="de-DE" dirty="0">
                <a:effectLst/>
              </a:rPr>
              <a:t> Zylinder für spezifische Zonen, wie z. B. „Technik/Haustechnik“ (Heizungsraum, Elektroverteilung) oder „Verwaltung“ (Büros, Archiv).</a:t>
            </a:r>
          </a:p>
          <a:p>
            <a:r>
              <a:rPr lang="de-DE" b="1" dirty="0">
                <a:effectLst/>
              </a:rPr>
              <a:t>Etagen/Wohnbereiche:</a:t>
            </a:r>
            <a:r>
              <a:rPr lang="de-DE" dirty="0">
                <a:effectLst/>
              </a:rPr>
              <a:t> In einem Wohnheim können Zylinder nach Etagen gruppiert werden (z. B. „Zugangsrecht OG1“, das alle Flurtüren und Gemeinschaftsräume in diesem Stockwerk enthält).</a:t>
            </a:r>
          </a:p>
          <a:p>
            <a:r>
              <a:rPr lang="de-DE" dirty="0">
                <a:effectLst/>
              </a:rPr>
              <a:t>2. Benutzerrollen als „Klammer“ nutzen</a:t>
            </a:r>
          </a:p>
          <a:p>
            <a:r>
              <a:rPr lang="de-DE" dirty="0">
                <a:effectLst/>
              </a:rPr>
              <a:t>Personenrollen dienen dazu, mehrere dieser Zugangsrechte für einen bestimmten Personentyp zusammenzufassen. Dies vereinfacht die Verwaltung: Wenn ein neuer Mitarbeiter kommt, wählen Sie einfach die Rolle aus, und alle hinterlegten Rechte werden automatisch zugewiesen.</a:t>
            </a:r>
          </a:p>
          <a:p>
            <a:r>
              <a:rPr lang="de-DE" dirty="0">
                <a:effectLst/>
              </a:rPr>
              <a:t>-------------------------------------------------------------------------------- </a:t>
            </a:r>
          </a:p>
          <a:p>
            <a:r>
              <a:rPr lang="de-DE" dirty="0">
                <a:effectLst/>
              </a:rPr>
              <a:t>Beispiel: Betreutes Wohnheim</a:t>
            </a:r>
          </a:p>
          <a:p>
            <a:r>
              <a:rPr lang="de-DE" dirty="0">
                <a:effectLst/>
              </a:rPr>
              <a:t>Hier ist ein konkretes Szenario, wie Sie die Zylinder und Rollen im System strukturieren könnten:</a:t>
            </a:r>
          </a:p>
          <a:p>
            <a:r>
              <a:rPr lang="de-DE" dirty="0">
                <a:effectLst/>
              </a:rPr>
              <a:t>Rolle</a:t>
            </a:r>
          </a:p>
          <a:p>
            <a:r>
              <a:rPr lang="de-DE" dirty="0">
                <a:effectLst/>
              </a:rPr>
              <a:t>Zugewiesene Zugangsrechte</a:t>
            </a:r>
          </a:p>
          <a:p>
            <a:r>
              <a:rPr lang="de-DE" dirty="0">
                <a:effectLst/>
              </a:rPr>
              <a:t>Enthaltene Zylinder (Beispiele)</a:t>
            </a:r>
          </a:p>
          <a:p>
            <a:r>
              <a:rPr lang="de-DE" b="1" dirty="0">
                <a:effectLst/>
              </a:rPr>
              <a:t>Bewohner</a:t>
            </a:r>
            <a:endParaRPr lang="de-DE" dirty="0">
              <a:effectLst/>
            </a:endParaRPr>
          </a:p>
          <a:p>
            <a:r>
              <a:rPr lang="de-DE" dirty="0">
                <a:effectLst/>
              </a:rPr>
              <a:t>Allgemeiner Zugang + Individuelles Wohnrecht</a:t>
            </a:r>
          </a:p>
          <a:p>
            <a:r>
              <a:rPr lang="de-DE" dirty="0">
                <a:effectLst/>
              </a:rPr>
              <a:t>Haupteingang, Wohnungsabschlusstür (individuell), Briefkasten</a:t>
            </a:r>
          </a:p>
          <a:p>
            <a:r>
              <a:rPr lang="de-DE" b="1" dirty="0">
                <a:effectLst/>
              </a:rPr>
              <a:t>Pflegepersonal</a:t>
            </a:r>
            <a:endParaRPr lang="de-DE" dirty="0">
              <a:effectLst/>
            </a:endParaRPr>
          </a:p>
          <a:p>
            <a:r>
              <a:rPr lang="de-DE" dirty="0">
                <a:effectLst/>
              </a:rPr>
              <a:t>Allgemeiner Zugang + Pflegedienst-Rechte</a:t>
            </a:r>
          </a:p>
          <a:p>
            <a:r>
              <a:rPr lang="de-DE" dirty="0">
                <a:effectLst/>
              </a:rPr>
              <a:t>Haupteingang, alle Flurtüren, Medikamentendepot, Stationszimmer</a:t>
            </a:r>
          </a:p>
          <a:p>
            <a:r>
              <a:rPr lang="de-DE" b="1" dirty="0">
                <a:effectLst/>
              </a:rPr>
              <a:t>Reinigungsteam</a:t>
            </a:r>
            <a:endParaRPr lang="de-DE" dirty="0">
              <a:effectLst/>
            </a:endParaRPr>
          </a:p>
          <a:p>
            <a:r>
              <a:rPr lang="de-DE" dirty="0">
                <a:effectLst/>
              </a:rPr>
              <a:t>Allgemeiner Zugang + Reinigungs-Rechte</a:t>
            </a:r>
          </a:p>
          <a:p>
            <a:r>
              <a:rPr lang="de-DE" dirty="0">
                <a:effectLst/>
              </a:rPr>
              <a:t>Haupteingang, Putzmittelkammer, alle Gemeinschaftsräume</a:t>
            </a:r>
          </a:p>
          <a:p>
            <a:r>
              <a:rPr lang="de-DE" b="1" dirty="0">
                <a:effectLst/>
              </a:rPr>
              <a:t>Hausmeister</a:t>
            </a:r>
            <a:endParaRPr lang="de-DE" dirty="0">
              <a:effectLst/>
            </a:endParaRPr>
          </a:p>
          <a:p>
            <a:r>
              <a:rPr lang="de-DE" dirty="0">
                <a:effectLst/>
              </a:rPr>
              <a:t>Allgemeiner Zugang + Technik-Rechte</a:t>
            </a:r>
          </a:p>
          <a:p>
            <a:r>
              <a:rPr lang="de-DE" dirty="0">
                <a:effectLst/>
              </a:rPr>
              <a:t>Haupteingang, Heizungskeller, Werkstatt, Aufzugsschacht</a:t>
            </a:r>
          </a:p>
          <a:p>
            <a:r>
              <a:rPr lang="de-DE" b="1" dirty="0">
                <a:effectLst/>
              </a:rPr>
              <a:t>Besonderheit „Individuelles Zugangsrecht“:</a:t>
            </a:r>
            <a:r>
              <a:rPr lang="de-DE" dirty="0">
                <a:effectLst/>
              </a:rPr>
              <a:t> Für die Wohnungstür eines Bewohners empfiehlt es sich, ein </a:t>
            </a:r>
            <a:r>
              <a:rPr lang="de-DE" b="1" dirty="0">
                <a:effectLst/>
              </a:rPr>
              <a:t>individuelles Zugangsrecht zum Zylinder</a:t>
            </a:r>
            <a:r>
              <a:rPr lang="de-DE" dirty="0">
                <a:effectLst/>
              </a:rPr>
              <a:t> zu nutzen. So hat der Bewohner exklusiven Zugriff auf seine Tür, während das Personal über ein übergeordnetes Zugangsrecht (z. B. „Pflege-Master“) im Notfall alle Wohnungstüren öffnen kann.</a:t>
            </a:r>
          </a:p>
          <a:p>
            <a:endParaRPr lang="de-DE" dirty="0">
              <a:effectLst/>
            </a:endParaRPr>
          </a:p>
          <a:p>
            <a:r>
              <a:rPr lang="de-DE" dirty="0">
                <a:effectLst/>
              </a:rPr>
              <a:t>Zusammenfassung der Best Practice</a:t>
            </a:r>
          </a:p>
          <a:p>
            <a:r>
              <a:rPr lang="de-DE" b="1" dirty="0">
                <a:effectLst/>
              </a:rPr>
              <a:t>Erstellen Sie granulare Zugangsrechte</a:t>
            </a:r>
            <a:r>
              <a:rPr lang="de-DE" dirty="0">
                <a:effectLst/>
              </a:rPr>
              <a:t> für Funktionsgruppen von Zylindern.</a:t>
            </a:r>
          </a:p>
          <a:p>
            <a:r>
              <a:rPr lang="de-DE" b="1" dirty="0">
                <a:effectLst/>
              </a:rPr>
              <a:t>Definieren Sie Personenrollen</a:t>
            </a:r>
            <a:r>
              <a:rPr lang="de-DE" dirty="0">
                <a:effectLst/>
              </a:rPr>
              <a:t>, die diese Rechte für Jobprofile bündeln.</a:t>
            </a:r>
          </a:p>
          <a:p>
            <a:r>
              <a:rPr lang="de-DE" b="1" dirty="0">
                <a:effectLst/>
              </a:rPr>
              <a:t>Nutzen Sie Vorlagen für Benutzerrechte</a:t>
            </a:r>
            <a:r>
              <a:rPr lang="de-DE" dirty="0">
                <a:effectLst/>
              </a:rPr>
              <a:t>, falls Sie auch die Verwaltung der Software (wer darf Schlüssel ausgeben?) auf verschiedene Schultern verteilen möchten.</a:t>
            </a:r>
          </a:p>
          <a:p>
            <a:br>
              <a:rPr lang="de-DE" dirty="0">
                <a:effectLst/>
              </a:rPr>
            </a:b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0C490-7C8D-44E9-9607-F3F0F83B3911}" type="slidenum">
              <a:rPr lang="de-CH" smtClean="0"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21967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>
                <a:effectLst/>
              </a:rPr>
              <a:t>Best Practice für die Unterteilung</a:t>
            </a:r>
          </a:p>
          <a:p>
            <a:r>
              <a:rPr lang="de-DE">
                <a:effectLst/>
              </a:rPr>
              <a:t>Die bewährte Vorgehensweise besteht darin, Zylinder nicht einzeln an Personen zu vergeben, sondern sie in funktionalen Gruppen (Zugangsrechten) zu bündeln und diese dann über Rollen zuzuweisen.</a:t>
            </a:r>
          </a:p>
          <a:p>
            <a:r>
              <a:rPr lang="de-DE">
                <a:effectLst/>
              </a:rPr>
              <a:t>1. Welche Zylinder fasst man in ein „Zugangsrecht“ zusammen?</a:t>
            </a:r>
          </a:p>
          <a:p>
            <a:r>
              <a:rPr lang="de-DE">
                <a:effectLst/>
              </a:rPr>
              <a:t>Ein Zugangsrecht sollte Zylinder gruppieren, die eine </a:t>
            </a:r>
            <a:r>
              <a:rPr lang="de-DE" b="1">
                <a:effectLst/>
              </a:rPr>
              <a:t>logische Einheit</a:t>
            </a:r>
            <a:r>
              <a:rPr lang="de-DE">
                <a:effectLst/>
              </a:rPr>
              <a:t> bilden und üblicherweise von derselben Benutzergruppe benötigt werden.</a:t>
            </a:r>
          </a:p>
          <a:p>
            <a:r>
              <a:rPr lang="de-DE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Allgemeine Zugänge: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Zylinder, die jeder im Gebäude öffnen darf (Haupteingang, Müllraum, Fahrradkeller).</a:t>
            </a:r>
          </a:p>
          <a:p>
            <a:r>
              <a:rPr lang="de-DE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Funktionsbereiche: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Zylinder für spezifische Zonen, wie z. B. „Technik/Haustechnik“ (Heizungsraum, Elektroverteilung) oder „Verwaltung“ (Büros, Archiv).</a:t>
            </a:r>
          </a:p>
          <a:p>
            <a:r>
              <a:rPr lang="de-DE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Etagen/Wohnbereiche: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einem Wohnheim können Zylinder nach Etagen gruppiert werden (z. B. „Zugangsrecht OG1“, das alle Flurtüren und Gemeinschaftsräume in diesem Stockwerk enthält).</a:t>
            </a:r>
          </a:p>
          <a:p>
            <a:r>
              <a:rPr lang="de-DE">
                <a:effectLst/>
              </a:rPr>
              <a:t>2. Benutzerrollen als „Klammer“ nutzen</a:t>
            </a:r>
          </a:p>
          <a:p>
            <a:r>
              <a:rPr lang="de-DE">
                <a:effectLst/>
              </a:rPr>
              <a:t>Personenrollen dienen dazu, mehrere dieser Zugangsrechte für einen bestimmten Personentyp zusammenzufassen. Dies vereinfacht die Verwaltung: Wenn ein neuer Mitarbeiter kommt, wählen Sie einfach die Rolle aus, und alle hinterlegten Rechte werden automatisch zugewiesen.</a:t>
            </a:r>
          </a:p>
          <a:p>
            <a:r>
              <a:rPr lang="de-DE">
                <a:effectLst/>
              </a:rPr>
              <a:t>-------------------------------------------------------------------------------- </a:t>
            </a:r>
          </a:p>
          <a:p>
            <a:r>
              <a:rPr lang="de-DE">
                <a:effectLst/>
              </a:rPr>
              <a:t>Beispiel: Betreutes Wohnheim</a:t>
            </a:r>
          </a:p>
          <a:p>
            <a:r>
              <a:rPr lang="de-DE">
                <a:effectLst/>
              </a:rPr>
              <a:t>Hier ist ein konkretes Szenario, wie Sie die Zylinder und Rollen im System strukturieren könnten:</a:t>
            </a:r>
          </a:p>
          <a:p>
            <a:r>
              <a:rPr lang="de-DE">
                <a:effectLst/>
              </a:rPr>
              <a:t>Rolle</a:t>
            </a:r>
          </a:p>
          <a:p>
            <a:r>
              <a:rPr lang="de-DE">
                <a:effectLst/>
              </a:rPr>
              <a:t>Zugewiesene Zugangsrechte</a:t>
            </a:r>
          </a:p>
          <a:p>
            <a:r>
              <a:rPr lang="de-DE">
                <a:effectLst/>
              </a:rPr>
              <a:t>Enthaltene Zylinder (Beispiele)</a:t>
            </a:r>
          </a:p>
          <a:p>
            <a:r>
              <a:rPr lang="de-DE" b="1">
                <a:effectLst/>
              </a:rPr>
              <a:t>Bewohner</a:t>
            </a:r>
            <a:endParaRPr lang="de-DE">
              <a:effectLst/>
            </a:endParaRPr>
          </a:p>
          <a:p>
            <a:r>
              <a:rPr lang="de-DE">
                <a:effectLst/>
              </a:rPr>
              <a:t>Allgemeiner Zugang + Individuelles Wohnrecht</a:t>
            </a:r>
          </a:p>
          <a:p>
            <a:r>
              <a:rPr lang="de-DE">
                <a:effectLst/>
              </a:rPr>
              <a:t>Haupteingang, Wohnungsabschlusstür (individuell), Briefkasten</a:t>
            </a:r>
          </a:p>
          <a:p>
            <a:r>
              <a:rPr lang="de-DE" b="1">
                <a:effectLst/>
              </a:rPr>
              <a:t>Pflegepersonal</a:t>
            </a:r>
            <a:endParaRPr lang="de-DE">
              <a:effectLst/>
            </a:endParaRPr>
          </a:p>
          <a:p>
            <a:r>
              <a:rPr lang="de-DE">
                <a:effectLst/>
              </a:rPr>
              <a:t>Allgemeiner Zugang + Pflegedienst-Rechte</a:t>
            </a:r>
          </a:p>
          <a:p>
            <a:r>
              <a:rPr lang="de-DE">
                <a:effectLst/>
              </a:rPr>
              <a:t>Haupteingang, alle Flurtüren, Medikamentendepot, Stationszimmer</a:t>
            </a:r>
          </a:p>
          <a:p>
            <a:r>
              <a:rPr lang="de-DE" b="1">
                <a:effectLst/>
              </a:rPr>
              <a:t>Reinigungsteam</a:t>
            </a:r>
            <a:endParaRPr lang="de-DE">
              <a:effectLst/>
            </a:endParaRPr>
          </a:p>
          <a:p>
            <a:r>
              <a:rPr lang="de-DE">
                <a:effectLst/>
              </a:rPr>
              <a:t>Allgemeiner Zugang + Reinigungs-Rechte</a:t>
            </a:r>
          </a:p>
          <a:p>
            <a:r>
              <a:rPr lang="de-DE">
                <a:effectLst/>
              </a:rPr>
              <a:t>Haupteingang, Putzmittelkammer, alle Gemeinschaftsräume</a:t>
            </a:r>
          </a:p>
          <a:p>
            <a:r>
              <a:rPr lang="de-DE" b="1">
                <a:effectLst/>
              </a:rPr>
              <a:t>Hausmeister</a:t>
            </a:r>
            <a:endParaRPr lang="de-DE">
              <a:effectLst/>
            </a:endParaRPr>
          </a:p>
          <a:p>
            <a:r>
              <a:rPr lang="de-DE">
                <a:effectLst/>
              </a:rPr>
              <a:t>Allgemeiner Zugang + Technik-Rechte</a:t>
            </a:r>
          </a:p>
          <a:p>
            <a:r>
              <a:rPr lang="de-DE">
                <a:effectLst/>
              </a:rPr>
              <a:t>Haupteingang, Heizungskeller, Werkstatt, Aufzugsschacht</a:t>
            </a:r>
          </a:p>
          <a:p>
            <a:r>
              <a:rPr lang="de-DE" b="1">
                <a:effectLst/>
              </a:rPr>
              <a:t>Besonderheit „Individuelles Zugangsrecht“:</a:t>
            </a:r>
            <a:r>
              <a:rPr lang="de-DE">
                <a:effectLst/>
              </a:rPr>
              <a:t> Für die Wohnungstür eines Bewohners empfiehlt es sich, ein </a:t>
            </a:r>
            <a:r>
              <a:rPr lang="de-DE" b="1">
                <a:effectLst/>
              </a:rPr>
              <a:t>individuelles Zugangsrecht zum Zylinder</a:t>
            </a:r>
            <a:r>
              <a:rPr lang="de-DE">
                <a:effectLst/>
              </a:rPr>
              <a:t> zu nutzen. So hat der Bewohner exklusiven Zugriff auf seine Tür, während das Personal über ein übergeordnetes Zugangsrecht (z. B. „Pflege-Master“) im Notfall alle Wohnungstüren öffnen kann.</a:t>
            </a:r>
          </a:p>
          <a:p>
            <a:r>
              <a:rPr lang="de-DE">
                <a:effectLst/>
              </a:rPr>
              <a:t>Zusammenfassung der Best Practice</a:t>
            </a:r>
          </a:p>
          <a:p>
            <a:r>
              <a:rPr lang="de-DE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Erstellen Sie granulare Zugangsrechte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für Funktionsgruppen von Zylindern.</a:t>
            </a:r>
          </a:p>
          <a:p>
            <a:r>
              <a:rPr lang="de-DE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Definieren Sie Personenrollen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die diese Rechte für Jobprofile bündeln.</a:t>
            </a:r>
          </a:p>
          <a:p>
            <a:r>
              <a:rPr lang="de-DE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Nutzen Sie Vorlagen für Benutzerrechte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falls Sie auch die Verwaltung der Software (wer darf Schlüssel ausgeben?) auf verschiedene Schultern verteilen möchten.</a:t>
            </a:r>
          </a:p>
          <a:p>
            <a:r>
              <a:rPr lang="de-DE">
                <a:effectLst/>
              </a:rPr>
              <a:t>Möchten Sie, dass ich Ihnen eine Vorlage für einen Bericht erstelle, der diese Rollenverteilung für Ihre Dokumentation zusammenfasst?</a:t>
            </a:r>
          </a:p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0C490-7C8D-44E9-9607-F3F0F83B3911}" type="slidenum">
              <a:rPr lang="de-CH" smtClean="0"/>
              <a:t>10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83404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F8EB7AD-65F2-7379-1082-9CFF5F0C08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8800" y="8835252"/>
            <a:ext cx="1727200" cy="2706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C41154CB-F100-46BD-260D-2FB61F682A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8800" y="8835252"/>
            <a:ext cx="1727200" cy="2706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600BF4D-94FB-8FE5-54AF-67D5A4D028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8800" y="8835252"/>
            <a:ext cx="1727200" cy="2706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6327A62F-81A6-E149-C331-50CCF64EE9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8800" y="8835252"/>
            <a:ext cx="1727200" cy="2706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1FA28CA3-F68E-CFE3-AB49-40A2DCC4F9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8800" y="8835252"/>
            <a:ext cx="1727200" cy="2706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C19B07E6-608F-9A29-34D1-0075C78501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8800" y="8835252"/>
            <a:ext cx="1727200" cy="2706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9F06DDD-DF16-DD24-F104-C25CFB86F8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8800" y="8835252"/>
            <a:ext cx="1727200" cy="2706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E20321B-0E5C-8C63-31C0-FF64D97592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8800" y="8835252"/>
            <a:ext cx="1727200" cy="2706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42AA6A5-294B-0753-8546-A06316832F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8800" y="8835252"/>
            <a:ext cx="1727200" cy="2706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8F2A0A1-6AAB-B48D-A5FB-A00616BBB39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8800" y="8835252"/>
            <a:ext cx="1727200" cy="2706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6666B75-A907-E3F7-0DE5-E675EBE499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8800" y="8835252"/>
            <a:ext cx="1727200" cy="2706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780</Words>
  <Application>Microsoft Office PowerPoint</Application>
  <PresentationFormat>Benutzerdefiniert</PresentationFormat>
  <Paragraphs>69</Paragraphs>
  <Slides>11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Sibox</dc:creator>
  <cp:lastModifiedBy>Marc Kuhn (Sibox)</cp:lastModifiedBy>
  <cp:revision>2</cp:revision>
  <dcterms:created xsi:type="dcterms:W3CDTF">2006-08-16T00:00:00Z</dcterms:created>
  <dcterms:modified xsi:type="dcterms:W3CDTF">2026-03-12T06:54:45Z</dcterms:modified>
</cp:coreProperties>
</file>